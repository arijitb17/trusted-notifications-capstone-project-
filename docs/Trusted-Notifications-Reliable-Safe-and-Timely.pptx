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</p:embeddedFont>
    <p:embeddedFont>
      <p:font typeface="Barlow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23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Trusted Notifications: Reliable, Safe, and Timely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Designing a secure, fault-tolerant notification framework that users can trust</a:t>
            </a:r>
            <a:endParaRPr lang="en-US" sz="19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0A3E49D-25BB-B40F-6C42-7C4557F9FA90}"/>
              </a:ext>
            </a:extLst>
          </p:cNvPr>
          <p:cNvSpPr/>
          <p:nvPr/>
        </p:nvSpPr>
        <p:spPr>
          <a:xfrm>
            <a:off x="9042796" y="6074462"/>
            <a:ext cx="5486400" cy="2077079"/>
          </a:xfrm>
          <a:prstGeom prst="roundRect">
            <a:avLst>
              <a:gd name="adj" fmla="val 373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Name: Arijit Banik</a:t>
            </a:r>
          </a:p>
          <a:p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College: </a:t>
            </a:r>
            <a:r>
              <a:rPr lang="en-IN" sz="3200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Gauhati</a:t>
            </a:r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 University</a:t>
            </a:r>
          </a:p>
          <a:p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Roll no: GA.11</a:t>
            </a:r>
          </a:p>
          <a:p>
            <a:r>
              <a:rPr lang="en-IN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Problem Statement: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571" y="594360"/>
            <a:ext cx="8004334" cy="59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Trust Crisis in Digital Notifications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55571" y="1625679"/>
            <a:ext cx="13119259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depend on critical alerts—OTPs for login, transaction confirmations, and security updates. When notifications fail, trust erodes and security risks escalate.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5571" y="2559010"/>
            <a:ext cx="6451640" cy="2430185"/>
          </a:xfrm>
          <a:prstGeom prst="roundRect">
            <a:avLst>
              <a:gd name="adj" fmla="val 373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051" y="2782491"/>
            <a:ext cx="647581" cy="647581"/>
          </a:xfrm>
          <a:prstGeom prst="roundRect">
            <a:avLst>
              <a:gd name="adj" fmla="val 14118829"/>
            </a:avLst>
          </a:prstGeom>
          <a:solidFill>
            <a:srgbClr val="F65F6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168" y="2960608"/>
            <a:ext cx="291346" cy="2913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9051" y="3645932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Delivery Failures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9051" y="4075152"/>
            <a:ext cx="6004679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Missed or significantly delayed notifications leave users vulnerable during critical moments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23071" y="2559010"/>
            <a:ext cx="6451759" cy="2430185"/>
          </a:xfrm>
          <a:prstGeom prst="roundRect">
            <a:avLst>
              <a:gd name="adj" fmla="val 373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46551" y="2782491"/>
            <a:ext cx="647581" cy="647581"/>
          </a:xfrm>
          <a:prstGeom prst="roundRect">
            <a:avLst>
              <a:gd name="adj" fmla="val 14118829"/>
            </a:avLst>
          </a:prstGeom>
          <a:solidFill>
            <a:srgbClr val="F65F6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4668" y="2960608"/>
            <a:ext cx="291346" cy="2913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6551" y="3645932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Duplicates &amp; Disorder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646551" y="4075152"/>
            <a:ext cx="6004798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Out-of-order or repeated alerts create confusion and diminish message credibility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55571" y="5205055"/>
            <a:ext cx="6451640" cy="2430185"/>
          </a:xfrm>
          <a:prstGeom prst="roundRect">
            <a:avLst>
              <a:gd name="adj" fmla="val 373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9051" y="5428536"/>
            <a:ext cx="647581" cy="647581"/>
          </a:xfrm>
          <a:prstGeom prst="roundRect">
            <a:avLst>
              <a:gd name="adj" fmla="val 14118829"/>
            </a:avLst>
          </a:prstGeom>
          <a:solidFill>
            <a:srgbClr val="F65F6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7168" y="5606653"/>
            <a:ext cx="291346" cy="2913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9051" y="6291977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Security Threats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79051" y="6721197"/>
            <a:ext cx="6004679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Spoofed SMS and phishing attacks exploit weak sender verification systems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23071" y="5205055"/>
            <a:ext cx="6451759" cy="2430185"/>
          </a:xfrm>
          <a:prstGeom prst="roundRect">
            <a:avLst>
              <a:gd name="adj" fmla="val 373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46551" y="5428536"/>
            <a:ext cx="647581" cy="647581"/>
          </a:xfrm>
          <a:prstGeom prst="roundRect">
            <a:avLst>
              <a:gd name="adj" fmla="val 14118829"/>
            </a:avLst>
          </a:prstGeom>
          <a:solidFill>
            <a:srgbClr val="F65F6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4668" y="5606653"/>
            <a:ext cx="291346" cy="2913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6551" y="6291977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Inconsistent Channels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646551" y="6721197"/>
            <a:ext cx="6004798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Unreliable delivery across SMS, email, and push with inadequate retry mechanisms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278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766" y="3747968"/>
            <a:ext cx="12254389" cy="628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Defining Success: What Reliable Notifications Look Like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91766" y="4941808"/>
            <a:ext cx="3016329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Core Principles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91766" y="5544979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Verified sender identity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every critical alert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1766" y="5986105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Intelligent routing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clear event-to-channel mapping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1766" y="6427232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Template consistency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anti-spoofing protections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1766" y="6868358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failover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when primary channels fail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8807" y="4941808"/>
            <a:ext cx="3016329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Performance Targets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598807" y="5544979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OTP Example: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SMS + App Push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8807" y="6110526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Failover Speed: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SMS fails → Push in under 10 seconds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8807" y="6676073"/>
            <a:ext cx="624744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Reliability Goal: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≥99% delivery within 30–60 seconds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80" y="685919"/>
            <a:ext cx="8575358" cy="44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Understanding Notification Types &amp; Channel Trade-offs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1380" y="1452205"/>
            <a:ext cx="6673572" cy="1423154"/>
          </a:xfrm>
          <a:prstGeom prst="roundRect">
            <a:avLst>
              <a:gd name="adj" fmla="val 4734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4240" y="1475065"/>
            <a:ext cx="6627852" cy="481132"/>
          </a:xfrm>
          <a:prstGeom prst="roundRect">
            <a:avLst>
              <a:gd name="adj" fmla="val 8301"/>
            </a:avLst>
          </a:prstGeom>
          <a:solidFill>
            <a:srgbClr val="790709"/>
          </a:solidFill>
          <a:ln/>
        </p:spPr>
      </p:sp>
      <p:sp>
        <p:nvSpPr>
          <p:cNvPr id="5" name="Text 3"/>
          <p:cNvSpPr/>
          <p:nvPr/>
        </p:nvSpPr>
        <p:spPr>
          <a:xfrm>
            <a:off x="3777853" y="1561386"/>
            <a:ext cx="240506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4617" y="2116574"/>
            <a:ext cx="178224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4617" y="2435543"/>
            <a:ext cx="630709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OTPs for login, transactions, and device binding—require instant, reliable delivery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95329" y="1452205"/>
            <a:ext cx="6673691" cy="1423154"/>
          </a:xfrm>
          <a:prstGeom prst="roundRect">
            <a:avLst>
              <a:gd name="adj" fmla="val 4734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8189" y="1475065"/>
            <a:ext cx="6627971" cy="481132"/>
          </a:xfrm>
          <a:prstGeom prst="roundRect">
            <a:avLst>
              <a:gd name="adj" fmla="val 8301"/>
            </a:avLst>
          </a:prstGeom>
          <a:solidFill>
            <a:srgbClr val="790709"/>
          </a:solidFill>
          <a:ln/>
        </p:spPr>
      </p:sp>
      <p:sp>
        <p:nvSpPr>
          <p:cNvPr id="10" name="Text 8"/>
          <p:cNvSpPr/>
          <p:nvPr/>
        </p:nvSpPr>
        <p:spPr>
          <a:xfrm>
            <a:off x="10611922" y="1561386"/>
            <a:ext cx="240506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78566" y="2116574"/>
            <a:ext cx="178224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Transaction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78566" y="2435543"/>
            <a:ext cx="63072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UPI payments, card usage, debits/credits, refunds—users expect immediate confirmation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1380" y="3035737"/>
            <a:ext cx="6673572" cy="1423154"/>
          </a:xfrm>
          <a:prstGeom prst="roundRect">
            <a:avLst>
              <a:gd name="adj" fmla="val 4734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4240" y="3058597"/>
            <a:ext cx="6627852" cy="481132"/>
          </a:xfrm>
          <a:prstGeom prst="roundRect">
            <a:avLst>
              <a:gd name="adj" fmla="val 8301"/>
            </a:avLst>
          </a:prstGeom>
          <a:solidFill>
            <a:srgbClr val="790709"/>
          </a:solidFill>
          <a:ln/>
        </p:spPr>
      </p:sp>
      <p:sp>
        <p:nvSpPr>
          <p:cNvPr id="15" name="Text 13"/>
          <p:cNvSpPr/>
          <p:nvPr/>
        </p:nvSpPr>
        <p:spPr>
          <a:xfrm>
            <a:off x="3777853" y="3144917"/>
            <a:ext cx="240506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44617" y="3700105"/>
            <a:ext cx="178224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Security Updates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4617" y="4019074"/>
            <a:ext cx="630709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Password changes, new device logins, suspicious activity—critical for account protection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95329" y="3035737"/>
            <a:ext cx="6673691" cy="1423154"/>
          </a:xfrm>
          <a:prstGeom prst="roundRect">
            <a:avLst>
              <a:gd name="adj" fmla="val 4734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18189" y="3058597"/>
            <a:ext cx="6627971" cy="481132"/>
          </a:xfrm>
          <a:prstGeom prst="roundRect">
            <a:avLst>
              <a:gd name="adj" fmla="val 8301"/>
            </a:avLst>
          </a:prstGeom>
          <a:solidFill>
            <a:srgbClr val="7907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611922" y="3144917"/>
            <a:ext cx="240506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578566" y="3700105"/>
            <a:ext cx="178224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Service Notifications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78566" y="4019074"/>
            <a:ext cx="63072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EMI reminders, account statements, promotional offers—lower urgency but still important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1380" y="4699397"/>
            <a:ext cx="213872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Channel Comparison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61380" y="5207198"/>
            <a:ext cx="13507641" cy="2336363"/>
          </a:xfrm>
          <a:prstGeom prst="roundRect">
            <a:avLst>
              <a:gd name="adj" fmla="val 288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9000" y="5214818"/>
            <a:ext cx="13492401" cy="4642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9615" y="5318641"/>
            <a:ext cx="30484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Channel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06466" y="5318641"/>
            <a:ext cx="439388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28723" y="5318641"/>
            <a:ext cx="507230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Vulnerabilities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9000" y="5679043"/>
            <a:ext cx="13492401" cy="4642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29615" y="5782866"/>
            <a:ext cx="30484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06466" y="5782866"/>
            <a:ext cx="439388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Instant, universal reach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28723" y="5782866"/>
            <a:ext cx="507230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Spoofing risk, operator delays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9000" y="6143268"/>
            <a:ext cx="13492401" cy="4642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9615" y="6247090"/>
            <a:ext cx="30484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06466" y="6247090"/>
            <a:ext cx="439388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Rich content, detailed info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828723" y="6247090"/>
            <a:ext cx="507230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Spam filters, lower visibility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69000" y="6607492"/>
            <a:ext cx="13492401" cy="4642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29615" y="6711315"/>
            <a:ext cx="30484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 Push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106466" y="6711315"/>
            <a:ext cx="439388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Secure, real-time delivery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28723" y="6711315"/>
            <a:ext cx="507230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Requires permissions, app install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9000" y="7071717"/>
            <a:ext cx="13492401" cy="4642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29615" y="7175540"/>
            <a:ext cx="30484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In-App Inbox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106466" y="7175540"/>
            <a:ext cx="439388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Tamper-proof, persistent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828723" y="7175540"/>
            <a:ext cx="507230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 immediate visibility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517" y="900589"/>
            <a:ext cx="7659767" cy="117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Data-Driven Insights: Where the System Breaks Down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28517" y="2608540"/>
            <a:ext cx="3176826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Volume &amp; Failure Patterns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28517" y="3173849"/>
            <a:ext cx="357128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Highest traffic: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OTP SMS and debit alerts dominate notification volume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28517" y="4043005"/>
            <a:ext cx="3571280" cy="10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Failure concentration: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Promotional and low-priority alerts show highest failure rates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28517" y="5251371"/>
            <a:ext cx="357128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 vulnerability: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Worst latency occurs between 2am–7am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28517" y="6120527"/>
            <a:ext cx="3571280" cy="10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gap: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High-value transactions show very low retry attempts—a significant risk exposure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324624" y="2608540"/>
            <a:ext cx="348400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Delivery Failure Root Causes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24624" y="3173849"/>
            <a:ext cx="3571280" cy="10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Vendor issues: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One specific SMS aggregator accounts for majority of failures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24624" y="4382214"/>
            <a:ext cx="357128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Infrastructure: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Telecom circle congestion during peak hours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324624" y="5251371"/>
            <a:ext cx="357128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gaps: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Missing or expired push notification tokens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324624" y="6120527"/>
            <a:ext cx="357128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Peak retry times: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12pm and 6–9pm show highest OTP retry requests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62714"/>
            <a:ext cx="850951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Root Causes: Why Notifications Fail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42267"/>
            <a:ext cx="6451163" cy="987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853" y="31765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Fragmented Systems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110853" y="3667601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Multiple independent systems trigger notifications without coordination or central oversight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42267"/>
            <a:ext cx="6451163" cy="9875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62017" y="31765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 Orchestration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562017" y="3667601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central routing layer means manual vendor failover and poor optimization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4704517"/>
            <a:ext cx="6451163" cy="9875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0853" y="5938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Limited Visibility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110853" y="6429851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Weak observability leads to slow issue detection and delayed remediation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04517"/>
            <a:ext cx="6451163" cy="9875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62017" y="59388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Security Gaps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562017" y="6429851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Non-standardized templates and weak sender authentication enable spoofing attacks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621" y="632341"/>
            <a:ext cx="9190673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Solution: Central Notification Orchestrator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79621" y="1696522"/>
            <a:ext cx="13071158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unified platform that brings intelligence, security, and reliability to every notification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9621" y="2303383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9888" y="2533650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Unified Event Router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9888" y="2976563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Single entry point for all notification events with intelligent classification and prioritization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6523" y="2303383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6790" y="2533650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Multi-Channel Delivery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56790" y="2976563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Seamless orchestration across SMS, email, push notifications, and in-app inbox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79621" y="4142184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888" y="4372451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Smart Retry &amp; Failover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9888" y="4815364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vendor switching and channel fallback with intelligent backoff strategies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6523" y="4142184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6790" y="4372451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Security Layer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56790" y="4815364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Verified sender IDs, digitally signed payloads, and template registry for anti-spoofing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79621" y="5980986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9888" y="6211253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Real-Time Monitoring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9888" y="6654165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Comprehensive dashboards tracking delivery rates, latency, vendor health, and SLA compliance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82908" y="5975842"/>
            <a:ext cx="6424255" cy="1616154"/>
          </a:xfrm>
          <a:prstGeom prst="roundRect">
            <a:avLst>
              <a:gd name="adj" fmla="val 57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6790" y="6211253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User Preferences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656790" y="6654165"/>
            <a:ext cx="5963722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Granular customer control over notification channels and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2C1B44E-4954-F4D4-259C-A28D6EC0B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646271"/>
            <a:ext cx="7699653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Intelligent Routing &amp; Security Controls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27710" y="1306949"/>
            <a:ext cx="431125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Event-to-Channel Mapping Strategy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27710" y="1965246"/>
            <a:ext cx="13174980" cy="3000732"/>
          </a:xfrm>
          <a:prstGeom prst="roundRect">
            <a:avLst>
              <a:gd name="adj" fmla="val 291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5330" y="1972866"/>
            <a:ext cx="13159740" cy="597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3213" y="2105144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Event 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36958" y="2105144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6893" y="2105144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16828" y="2105144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Fallback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5330" y="2569964"/>
            <a:ext cx="13159740" cy="597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3213" y="2702242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OTP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36958" y="2702242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6893" y="2702242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16828" y="2702242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5330" y="3167063"/>
            <a:ext cx="13159740" cy="597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3213" y="3299341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High-Value Debit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36958" y="3299341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6893" y="3299341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6828" y="3299341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5330" y="3764161"/>
            <a:ext cx="13159740" cy="597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3213" y="3896439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Card-Not-Present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36958" y="3896439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6893" y="3896439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16828" y="3896439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5330" y="4361259"/>
            <a:ext cx="13159740" cy="597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3213" y="4493538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Service Reminders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36958" y="4493538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6893" y="4493538"/>
            <a:ext cx="286654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16828" y="4493538"/>
            <a:ext cx="287035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In-App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710" y="5407700"/>
            <a:ext cx="277225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Retry Logic</a:t>
            </a:r>
            <a:endParaRPr lang="en-US" sz="2150" dirty="0"/>
          </a:p>
        </p:txBody>
      </p:sp>
      <p:sp>
        <p:nvSpPr>
          <p:cNvPr id="31" name="Text 29"/>
          <p:cNvSpPr/>
          <p:nvPr/>
        </p:nvSpPr>
        <p:spPr>
          <a:xfrm>
            <a:off x="727710" y="5962055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Vendor failover: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Auto-switch to Vendor 2 if Vendor 1 fails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7710" y="6367343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Channel fallback: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SMS timeout at 10s triggers push notification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7710" y="6772632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Idempotency: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Unique message IDs prevent duplicate delivery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7710" y="7177921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Throttling: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Exponential backoff prevents retry storms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76423" y="5407700"/>
            <a:ext cx="291322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Anti-Spoofing Measures</a:t>
            </a:r>
            <a:endParaRPr lang="en-US" sz="2150" dirty="0"/>
          </a:p>
        </p:txBody>
      </p:sp>
      <p:sp>
        <p:nvSpPr>
          <p:cNvPr id="36" name="Text 34"/>
          <p:cNvSpPr/>
          <p:nvPr/>
        </p:nvSpPr>
        <p:spPr>
          <a:xfrm>
            <a:off x="7576423" y="5962055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Verified sender IDs: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Registered short codes only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76423" y="6367343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signatures: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Cryptographically signed message payloads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76423" y="6772632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Template registry: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All messages use approved formats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76423" y="7177921"/>
            <a:ext cx="6333887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Safe-link resolver:</a:t>
            </a: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Only bank-owned domains in URLs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893" y="526613"/>
            <a:ext cx="6076236" cy="530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Impact &amp; Roadmap to Excellence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8893" y="1133832"/>
            <a:ext cx="293834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Expected Business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68893" y="1834396"/>
            <a:ext cx="4271605" cy="63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40-60%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742837" y="2703790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SMS Failure Reduction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8893" y="3083957"/>
            <a:ext cx="4271605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Dramatic decrease in failed message delivery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79338" y="1834396"/>
            <a:ext cx="4271605" cy="63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99%+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6253282" y="2703790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OTP Success Rate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79338" y="3083957"/>
            <a:ext cx="4271605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Near-perfect authentication delivery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89783" y="1834396"/>
            <a:ext cx="4271605" cy="63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100%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10763726" y="2703790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Audit Visibility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89783" y="3083957"/>
            <a:ext cx="4271605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Complete operational transparency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8893" y="3604617"/>
            <a:ext cx="13292614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Additional Benefits:</a:t>
            </a: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Drastic reduction in phishing complaints, consistent user experience, and predictable notification behavior across all channels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8893" y="4196953"/>
            <a:ext cx="286595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8893" y="6252448"/>
            <a:ext cx="13292614" cy="22860"/>
          </a:xfrm>
          <a:prstGeom prst="roundRect">
            <a:avLst>
              <a:gd name="adj" fmla="val 351163"/>
            </a:avLst>
          </a:prstGeom>
          <a:solidFill>
            <a:srgbClr val="9220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4215" y="5679222"/>
            <a:ext cx="22860" cy="573286"/>
          </a:xfrm>
          <a:prstGeom prst="roundRect">
            <a:avLst>
              <a:gd name="adj" fmla="val 351163"/>
            </a:avLst>
          </a:prstGeom>
          <a:solidFill>
            <a:srgbClr val="9220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0737" y="6037481"/>
            <a:ext cx="429935" cy="429935"/>
          </a:xfrm>
          <a:prstGeom prst="roundRect">
            <a:avLst>
              <a:gd name="adj" fmla="val 18672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8248" y="6093142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3965" y="4802029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Phase 1: Foundation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59988" y="5182195"/>
            <a:ext cx="479155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event catalog and criticality mapping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50506" y="6252389"/>
            <a:ext cx="22860" cy="573286"/>
          </a:xfrm>
          <a:prstGeom prst="roundRect">
            <a:avLst>
              <a:gd name="adj" fmla="val 351163"/>
            </a:avLst>
          </a:prstGeom>
          <a:solidFill>
            <a:srgbClr val="92202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47028" y="6037481"/>
            <a:ext cx="429935" cy="429935"/>
          </a:xfrm>
          <a:prstGeom prst="roundRect">
            <a:avLst>
              <a:gd name="adj" fmla="val 18672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4539" y="6093142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00255" y="7016948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Phase 2: Core Build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566279" y="7397115"/>
            <a:ext cx="479155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Define orchestrator APIs and integrate vendor channels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56796" y="5679222"/>
            <a:ext cx="22860" cy="573286"/>
          </a:xfrm>
          <a:prstGeom prst="roundRect">
            <a:avLst>
              <a:gd name="adj" fmla="val 351163"/>
            </a:avLst>
          </a:prstGeom>
          <a:solidFill>
            <a:srgbClr val="922022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3318" y="6037481"/>
            <a:ext cx="429935" cy="429935"/>
          </a:xfrm>
          <a:prstGeom prst="roundRect">
            <a:avLst>
              <a:gd name="adj" fmla="val 18672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829" y="6093142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06546" y="4802029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Phase 3: Monitoring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272570" y="5182195"/>
            <a:ext cx="479155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 dashboards and observability tools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363087" y="6252389"/>
            <a:ext cx="22860" cy="573286"/>
          </a:xfrm>
          <a:prstGeom prst="roundRect">
            <a:avLst>
              <a:gd name="adj" fmla="val 351163"/>
            </a:avLst>
          </a:prstGeom>
          <a:solidFill>
            <a:srgbClr val="92202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59609" y="6037481"/>
            <a:ext cx="429935" cy="429935"/>
          </a:xfrm>
          <a:prstGeom prst="roundRect">
            <a:avLst>
              <a:gd name="adj" fmla="val 18672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0" y="6093142"/>
            <a:ext cx="25479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312837" y="7016948"/>
            <a:ext cx="212359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Phase 4: Rollout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978860" y="7397115"/>
            <a:ext cx="479155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Internal testing → Beta group → Full deployment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787</Words>
  <Application>Microsoft Office PowerPoint</Application>
  <PresentationFormat>Custom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Barlow Medium</vt:lpstr>
      <vt:lpstr>Arial</vt:lpstr>
      <vt:lpstr>Barlow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Arijit Banik</cp:lastModifiedBy>
  <cp:revision>4</cp:revision>
  <dcterms:created xsi:type="dcterms:W3CDTF">2025-11-18T15:48:24Z</dcterms:created>
  <dcterms:modified xsi:type="dcterms:W3CDTF">2025-11-27T13:29:15Z</dcterms:modified>
</cp:coreProperties>
</file>